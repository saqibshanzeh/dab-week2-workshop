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>
        <p:scale>
          <a:sx n="90" d="100"/>
          <a:sy n="90" d="100"/>
        </p:scale>
        <p:origin x="1278" y="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9F046-F596-91AB-878B-CC5FC4CF05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1929CC-E018-0533-7033-E63D47335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A397E-291D-FED3-6750-6C2932733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BD224-BB79-4430-8F43-C69D5720688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0C349-37E1-097F-44DE-1CD92E543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0B9F5-C473-8144-895D-D56E7CCF6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41829-66D4-4E90-A29C-2D4B8FB8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43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8778D-D70D-7B15-6DC3-853B94A8A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5C4A8-1030-DAA6-E5E7-18EA119AE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20260-DF20-EF38-4576-31A8F584C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BD224-BB79-4430-8F43-C69D5720688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B4571-8655-5D45-FA71-C7C68095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C00B5-C56A-EC9A-A8AE-B3B2C23E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41829-66D4-4E90-A29C-2D4B8FB8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333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92E95-6140-7EDC-9BAF-1507D7245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5DC50-ADCA-D2B8-1F64-2E16D6F1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5BB5B-6C6E-5D39-AAC4-A31ACE3A8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BD224-BB79-4430-8F43-C69D5720688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C2513-3FAE-2696-8BB6-10AF4CA5B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24520-6059-D017-EA9B-E1FDC3DE7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41829-66D4-4E90-A29C-2D4B8FB8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40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19359-23E0-5520-6316-9E7606623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54534-2AAB-F4AF-9BEB-0D145CC1E7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267250-4A63-49BE-572E-20BFD5B75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182AF-C784-4087-B121-2775BE9AE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BD224-BB79-4430-8F43-C69D5720688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8E76D-BC4B-3ADC-7D8C-435556F82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53ACC-5368-EF26-E25A-BD37C57AC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41829-66D4-4E90-A29C-2D4B8FB8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70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CF0E4-6BE2-27AD-D8A0-4F3456B1E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738B3-208B-16FC-6847-DAF04FC45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984139-0EE8-70B5-3DAB-690CDCE623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F29C8-57D5-8499-FC22-A6C8A4C58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9474F6-278C-899C-9E9A-973F3D0F94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32CB45-1AE9-0998-0AC3-7C611B129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BD224-BB79-4430-8F43-C69D5720688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622018-3A3B-9D8A-5D71-28D2AC446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FB64F1-E4DB-A3CC-D645-77DDB253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41829-66D4-4E90-A29C-2D4B8FB8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581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C36A6-FB24-8705-506C-0BE713BF0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560940-6D6B-30B2-1059-FEF8E65DD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BD224-BB79-4430-8F43-C69D5720688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655C6-656E-0762-A14D-A2CCAA1E5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06E236-D9FF-1902-FB5B-02E835705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41829-66D4-4E90-A29C-2D4B8FB8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54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B7226B-D1B0-8734-434B-E7F8BAF32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BD224-BB79-4430-8F43-C69D5720688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6FE1D4-8919-8ADE-0C3B-EB9BF841B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AF37E-4350-12A1-684E-D122C4CAB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41829-66D4-4E90-A29C-2D4B8FB8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56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7711C-F180-FD81-0A4B-911975059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E87A3-3BAA-61E8-1F23-AF24799EF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EEF63-DF80-AF38-EEB5-3B367CCFB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D8CE62-3D83-346E-3070-140057462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BD224-BB79-4430-8F43-C69D5720688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3BB23-491D-ACE3-7AA4-A9926B1F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97C01-CEE8-EAAE-1EC0-4C21080A5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41829-66D4-4E90-A29C-2D4B8FB8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303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12C36-31BC-0C05-B795-1B5D5D62A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0E40EA-4999-8D8F-AD5A-358F1B9FED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7AB509-317C-A9F2-C1E1-725DF7347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326CB-D571-FFB9-0616-95967E304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BD224-BB79-4430-8F43-C69D5720688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BB675-8E37-3C18-4DB2-752E4FAC6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E8871-F3BE-38E1-42A2-6E1B0CFDB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41829-66D4-4E90-A29C-2D4B8FB8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399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C2954-04B1-6269-93C9-1207243BF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252E7-927D-0692-0E9E-CC1B6CD11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DC22A-81AF-3731-DD98-FDA787586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BD224-BB79-4430-8F43-C69D5720688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04B63-BD0B-92C9-728D-6529CAFAD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11074-0073-8E6D-8B21-FAB8C1424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41829-66D4-4E90-A29C-2D4B8FB8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739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D34CC9-2449-4A9B-1726-5D20F6A79D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C7D21-03C4-6E69-8C68-CB8EC42B22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0623C-2EE0-B2E2-1995-A35648571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BD224-BB79-4430-8F43-C69D5720688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10C13-890F-E9AC-98FC-87EB35485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76C38-4435-5D47-E3BF-7BE38FFA5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41829-66D4-4E90-A29C-2D4B8FB8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933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A426B8-FCA7-8A09-06EF-84441B19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D40CC-1B56-4D16-B28A-8D7331E0B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DEB97-0288-B101-AB90-A18E9837C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EBD224-BB79-4430-8F43-C69D5720688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82FB4-C8D8-6B05-E54C-4A2A51BF8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F71EC-35B3-DF3D-7864-1B5840DC0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741829-66D4-4E90-A29C-2D4B8FB81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886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20C09-CBB2-5AB9-3A6D-DCDF054FE3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Automotive Sales Performance &amp; Strategic 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3BA8F6-6B52-612C-3F8C-077EF178AF23}"/>
              </a:ext>
            </a:extLst>
          </p:cNvPr>
          <p:cNvSpPr txBox="1"/>
          <p:nvPr/>
        </p:nvSpPr>
        <p:spPr>
          <a:xfrm>
            <a:off x="8953169" y="5767442"/>
            <a:ext cx="2997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Prepared by: </a:t>
            </a:r>
            <a:r>
              <a:rPr lang="en-US" i="1" dirty="0"/>
              <a:t>Shanzeh Butt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224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54748-906B-BEC2-B363-F03B190FA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59794-AE25-76DA-A86A-AB825FC9B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automotive sales vary by vehicle category, market segment, fuel type, price, and season—and how can these insights be used to guide inventory, pricing, and marketing strategies?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78DC41-0FC1-8F6F-A45B-01FA54B67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302" y="4082912"/>
            <a:ext cx="3268359" cy="209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10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B8C4D-ACF2-765B-DB95-952751BBD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Overview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1CFBB68-C499-E1C8-3360-3DDFDA825D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066765"/>
              </p:ext>
            </p:extLst>
          </p:nvPr>
        </p:nvGraphicFramePr>
        <p:xfrm>
          <a:off x="2703443" y="2174756"/>
          <a:ext cx="6750658" cy="3487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5329">
                  <a:extLst>
                    <a:ext uri="{9D8B030D-6E8A-4147-A177-3AD203B41FA5}">
                      <a16:colId xmlns:a16="http://schemas.microsoft.com/office/drawing/2014/main" val="1130090639"/>
                    </a:ext>
                  </a:extLst>
                </a:gridCol>
                <a:gridCol w="3375329">
                  <a:extLst>
                    <a:ext uri="{9D8B030D-6E8A-4147-A177-3AD203B41FA5}">
                      <a16:colId xmlns:a16="http://schemas.microsoft.com/office/drawing/2014/main" val="3617738752"/>
                    </a:ext>
                  </a:extLst>
                </a:gridCol>
              </a:tblGrid>
              <a:tr h="474584">
                <a:tc>
                  <a:txBody>
                    <a:bodyPr/>
                    <a:lstStyle/>
                    <a:p>
                      <a:r>
                        <a:rPr lang="en-US" dirty="0"/>
                        <a:t>Data 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591484"/>
                  </a:ext>
                </a:extLst>
              </a:tr>
              <a:tr h="474584">
                <a:tc>
                  <a:txBody>
                    <a:bodyPr/>
                    <a:lstStyle/>
                    <a:p>
                      <a:r>
                        <a:rPr lang="en-US" dirty="0"/>
                        <a:t>Vehicle 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Sedan, SUV, Truck, EV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1305425"/>
                  </a:ext>
                </a:extLst>
              </a:tr>
              <a:tr h="474584">
                <a:tc>
                  <a:txBody>
                    <a:bodyPr/>
                    <a:lstStyle/>
                    <a:p>
                      <a:r>
                        <a:rPr lang="en-US" dirty="0"/>
                        <a:t>Market Segment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Standard, Luxury / 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898033"/>
                  </a:ext>
                </a:extLst>
              </a:tr>
              <a:tr h="474584">
                <a:tc>
                  <a:txBody>
                    <a:bodyPr/>
                    <a:lstStyle/>
                    <a:p>
                      <a:r>
                        <a:rPr lang="en-US" dirty="0"/>
                        <a:t>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Geographic sales region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7661710"/>
                  </a:ext>
                </a:extLst>
              </a:tr>
              <a:tr h="474584">
                <a:tc>
                  <a:txBody>
                    <a:bodyPr/>
                    <a:lstStyle/>
                    <a:p>
                      <a:r>
                        <a:rPr lang="en-US" dirty="0"/>
                        <a:t>Time Period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Quarterly (Q1–Q4)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2696689"/>
                  </a:ext>
                </a:extLst>
              </a:tr>
              <a:tr h="474584">
                <a:tc>
                  <a:txBody>
                    <a:bodyPr/>
                    <a:lstStyle/>
                    <a:p>
                      <a:r>
                        <a:rPr lang="en-US" dirty="0"/>
                        <a:t>Fuel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Gasoline, Electric, Hybrid, Hydrogen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7855523"/>
                  </a:ext>
                </a:extLst>
              </a:tr>
              <a:tr h="474584">
                <a:tc>
                  <a:txBody>
                    <a:bodyPr/>
                    <a:lstStyle/>
                    <a:p>
                      <a:r>
                        <a:rPr lang="en-US" dirty="0"/>
                        <a:t>Sales 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 of Sales Price/ Sales 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071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555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E36A7-9A68-A24B-70A4-96BEC938E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32"/>
            <a:ext cx="10515600" cy="610305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Best Performing Models by Sales Price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3BA436-F47B-2790-CA08-9B4152143411}"/>
              </a:ext>
            </a:extLst>
          </p:cNvPr>
          <p:cNvSpPr txBox="1"/>
          <p:nvPr/>
        </p:nvSpPr>
        <p:spPr>
          <a:xfrm>
            <a:off x="190830" y="1518699"/>
            <a:ext cx="49059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These models generate the </a:t>
            </a:r>
            <a:r>
              <a:rPr lang="en-US" sz="1200" b="1" dirty="0"/>
              <a:t>highest revenue per sale</a:t>
            </a:r>
            <a:r>
              <a:rPr lang="en-US" sz="1200" dirty="0"/>
              <a:t>, driven by premium pricing and performance positioning:</a:t>
            </a:r>
          </a:p>
          <a:p>
            <a:endParaRPr lang="en-US" sz="1200" dirty="0"/>
          </a:p>
          <a:p>
            <a:r>
              <a:rPr lang="en-US" sz="1200" dirty="0"/>
              <a:t>Top contributors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Tesla Roadster 2.0 ($199.9K)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Tesla Semi ($179.9K)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BMW i8 ($149.9K)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Tesla Plaid / Roadster ($129.9K)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Nissan GT-R ($115.9K)</a:t>
            </a: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A6ABC36-5126-8E51-8477-4FE50B69F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437" y="679837"/>
            <a:ext cx="4992804" cy="32008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336DEA7-D45D-E7D0-077E-D346AF47B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436" y="3959297"/>
            <a:ext cx="5152493" cy="28987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88B8F63-2D38-A1B0-93E4-64753F94E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22" y="3729163"/>
            <a:ext cx="5152493" cy="295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47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77A95-C392-DD72-93F4-E0161CA21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Worst Performing Models by Sales Price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B8863-F313-99E8-B9A6-188735E86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84" y="1825625"/>
            <a:ext cx="4198288" cy="15139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/>
              <a:t>Lowest revenue comes from entry-level economy vehicles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Lowest contributors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Chevrolet Spark ($16.5K)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Nissan Versa ($17.8K)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Toyota Yaris ($18.5K)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Hyundai Accent ($18.9K)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1D9BEE-6E45-9BC5-54C3-C975391A4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61978"/>
            <a:ext cx="6718851" cy="383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828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FCDF7-A8ED-BD75-ADFA-A0402D42B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1324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Seasonal Patterns in Buying Behavior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D0152-1719-9CAD-6DE1-75C822796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" y="1237227"/>
            <a:ext cx="5888604" cy="291335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dirty="0"/>
              <a:t>Clear Seasonal Trends</a:t>
            </a:r>
          </a:p>
          <a:p>
            <a:pPr marL="0" indent="0">
              <a:buNone/>
            </a:pPr>
            <a:endParaRPr lang="en-US" sz="8000" b="1" dirty="0"/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Q1:</a:t>
            </a:r>
            <a:r>
              <a:rPr lang="en-US" sz="4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Strong demand for </a:t>
            </a:r>
            <a:r>
              <a:rPr lang="en-US" sz="4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budget sedans</a:t>
            </a:r>
            <a:r>
              <a:rPr lang="en-US" sz="4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and practical vehicles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Q2:</a:t>
            </a:r>
            <a:r>
              <a:rPr lang="en-US" sz="4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Growth in </a:t>
            </a:r>
            <a:r>
              <a:rPr lang="en-US" sz="4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SUVs and trucks</a:t>
            </a:r>
            <a:r>
              <a:rPr lang="en-US" sz="4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(spring/summer utility demand)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Q3:</a:t>
            </a:r>
            <a:r>
              <a:rPr lang="en-US" sz="4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Increased </a:t>
            </a:r>
            <a:r>
              <a:rPr lang="en-US" sz="4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family vehicles</a:t>
            </a:r>
            <a:r>
              <a:rPr lang="en-US" sz="4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(SUVs, vans) and </a:t>
            </a:r>
            <a:r>
              <a:rPr lang="en-US" sz="4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EV launches</a:t>
            </a:r>
            <a:endParaRPr lang="en-US" sz="4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Q4:</a:t>
            </a:r>
            <a:r>
              <a:rPr lang="en-US" sz="4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Peak sales for:</a:t>
            </a: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Luxury vehicles</a:t>
            </a: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EVs</a:t>
            </a: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Performance models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800" kern="100" dirty="0">
                <a:effectLst/>
                <a:ea typeface="Aptos" panose="020B0004020202020204" pitchFamily="34" charset="0"/>
                <a:cs typeface="Segoe UI Symbol" panose="020B0502040204020203" pitchFamily="34" charset="0"/>
              </a:rPr>
              <a:t>➡️</a:t>
            </a:r>
            <a:r>
              <a:rPr lang="en-US" sz="4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4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Q4 is the strongest revenue quarter</a:t>
            </a:r>
            <a:r>
              <a:rPr lang="en-US" sz="4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driven by incentives, tax planning, and new model-year releases.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728E98-1892-EBAD-1078-D8E4DD7DC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722" y="1601799"/>
            <a:ext cx="6317598" cy="319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456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F1BB-8400-4D41-69BB-E36F35BF7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099"/>
            <a:ext cx="10515600" cy="644691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Patterns Across Vehicle Categories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9D19AD-D230-006B-0141-DAB76FC5A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248841"/>
              </p:ext>
            </p:extLst>
          </p:nvPr>
        </p:nvGraphicFramePr>
        <p:xfrm>
          <a:off x="187296" y="1035826"/>
          <a:ext cx="6300968" cy="2393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242">
                  <a:extLst>
                    <a:ext uri="{9D8B030D-6E8A-4147-A177-3AD203B41FA5}">
                      <a16:colId xmlns:a16="http://schemas.microsoft.com/office/drawing/2014/main" val="1197896183"/>
                    </a:ext>
                  </a:extLst>
                </a:gridCol>
                <a:gridCol w="1575242">
                  <a:extLst>
                    <a:ext uri="{9D8B030D-6E8A-4147-A177-3AD203B41FA5}">
                      <a16:colId xmlns:a16="http://schemas.microsoft.com/office/drawing/2014/main" val="1559588693"/>
                    </a:ext>
                  </a:extLst>
                </a:gridCol>
                <a:gridCol w="1575242">
                  <a:extLst>
                    <a:ext uri="{9D8B030D-6E8A-4147-A177-3AD203B41FA5}">
                      <a16:colId xmlns:a16="http://schemas.microsoft.com/office/drawing/2014/main" val="214046812"/>
                    </a:ext>
                  </a:extLst>
                </a:gridCol>
                <a:gridCol w="1575242">
                  <a:extLst>
                    <a:ext uri="{9D8B030D-6E8A-4147-A177-3AD203B41FA5}">
                      <a16:colId xmlns:a16="http://schemas.microsoft.com/office/drawing/2014/main" val="2280232897"/>
                    </a:ext>
                  </a:extLst>
                </a:gridCol>
              </a:tblGrid>
              <a:tr h="25170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Vehicle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No. of Units Sold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Peak Quarter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654990"/>
                  </a:ext>
                </a:extLst>
              </a:tr>
              <a:tr h="460968">
                <a:tc>
                  <a:txBody>
                    <a:bodyPr/>
                    <a:lstStyle/>
                    <a:p>
                      <a:r>
                        <a:rPr lang="en-US" sz="1000" dirty="0"/>
                        <a:t>SUV’s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$2,433,600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Peak Q3, core revenue driver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05862"/>
                  </a:ext>
                </a:extLst>
              </a:tr>
              <a:tr h="332921">
                <a:tc>
                  <a:txBody>
                    <a:bodyPr/>
                    <a:lstStyle/>
                    <a:p>
                      <a:r>
                        <a:rPr lang="en-US" sz="1000" dirty="0"/>
                        <a:t>Sedans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$1,601,400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Stable sales, Q4 revenue jump → luxury shift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187078"/>
                  </a:ext>
                </a:extLst>
              </a:tr>
              <a:tr h="460968">
                <a:tc>
                  <a:txBody>
                    <a:bodyPr/>
                    <a:lstStyle/>
                    <a:p>
                      <a:r>
                        <a:rPr lang="en-US" sz="1000" dirty="0"/>
                        <a:t>Coupes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$1,314,901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No Q1 sales → surge in Q4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97447"/>
                  </a:ext>
                </a:extLst>
              </a:tr>
              <a:tr h="332921">
                <a:tc>
                  <a:txBody>
                    <a:bodyPr/>
                    <a:lstStyle/>
                    <a:p>
                      <a:r>
                        <a:rPr lang="en-US" sz="1000" dirty="0"/>
                        <a:t>Trucks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$652,800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Peak Q2, slow afterward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385541"/>
                  </a:ext>
                </a:extLst>
              </a:tr>
              <a:tr h="251707">
                <a:tc>
                  <a:txBody>
                    <a:bodyPr/>
                    <a:lstStyle/>
                    <a:p>
                      <a:r>
                        <a:rPr lang="en-US" sz="1000" dirty="0"/>
                        <a:t>Vans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Likely seasonal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23972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FA4E5DB2-7A40-3322-8641-A97CD2184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5246" y="1142422"/>
            <a:ext cx="5014833" cy="25072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173F02-138D-9F04-273C-AE3EF8BBD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02" y="3840228"/>
            <a:ext cx="5407621" cy="27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6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38760-2165-2079-F85A-4A673C37F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64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Sales Trends by Fuel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70281-A81A-4180-3FBB-FC83DD40C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099" y="1706355"/>
            <a:ext cx="5219041" cy="3469944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3700" b="1" dirty="0"/>
              <a:t>Gasoline</a:t>
            </a:r>
            <a:endParaRPr lang="en-US" sz="37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700" dirty="0"/>
              <a:t>Highest sales each quarter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700" dirty="0"/>
              <a:t>Strong growth Q1 → Q3, slight drop in Q4 (38 → 25)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700" dirty="0"/>
              <a:t>Remains preferred fuel, Q4 momentum slows</a:t>
            </a:r>
          </a:p>
          <a:p>
            <a:pPr marL="0" indent="0">
              <a:buNone/>
            </a:pPr>
            <a:endParaRPr lang="en-US" sz="3700" b="1" dirty="0"/>
          </a:p>
          <a:p>
            <a:pPr marL="0" indent="0">
              <a:buNone/>
            </a:pPr>
            <a:r>
              <a:rPr lang="en-US" sz="3700" b="1" dirty="0"/>
              <a:t> Electric</a:t>
            </a:r>
            <a:endParaRPr lang="en-US" sz="37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700" dirty="0"/>
              <a:t>Very low Q1 adoption (1)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700" dirty="0"/>
              <a:t>Gradual growth Q2–Q3 (4 each)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700" dirty="0"/>
              <a:t>Sharp Q4 jump (12) → clear sign of shifting preference</a:t>
            </a:r>
          </a:p>
          <a:p>
            <a:pPr marL="0" indent="0">
              <a:buNone/>
            </a:pPr>
            <a:r>
              <a:rPr lang="en-US" sz="3700" b="1" dirty="0"/>
              <a:t>Hybrid</a:t>
            </a:r>
            <a:endParaRPr lang="en-US" sz="37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700" dirty="0"/>
              <a:t>Low but steady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700" dirty="0"/>
              <a:t>Slight increase in Q3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700" dirty="0"/>
              <a:t>No major trend shifts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3D48EB-99A6-65B7-3DBF-1BE453CD9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860" y="1706355"/>
            <a:ext cx="4645555" cy="274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388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91B4F-8E41-3A56-DE77-11C03A9EB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8545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Seasonal Trends by Vehicle Category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2E2299-55C4-6DCC-5935-D6EF7D648C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1121" y="1770391"/>
            <a:ext cx="4886739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SUVs: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Peak Q2 → Q4 → summer/fall preference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Sedans: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Stable across quarters → consistent commuter demand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Trucks: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Moderate Q2 spike → fleet/construction activity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Mostly Q4 → year-end incentives &amp; new launches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Vans: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Peak Q3 → back-to-school/family trips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Coupes: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 volume, luxury-oriented → minimal seasonality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772911-4C05-5B6D-7EF0-5A07C83A5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351" y="2978920"/>
            <a:ext cx="6522128" cy="329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513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5F715-F1D6-DFA2-80B7-61F47F80D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552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Premium vs Economy Model Performance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9216C8-A898-6224-B54D-9A8E38FCD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731769"/>
              </p:ext>
            </p:extLst>
          </p:nvPr>
        </p:nvGraphicFramePr>
        <p:xfrm>
          <a:off x="290664" y="1578406"/>
          <a:ext cx="5036710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8355">
                  <a:extLst>
                    <a:ext uri="{9D8B030D-6E8A-4147-A177-3AD203B41FA5}">
                      <a16:colId xmlns:a16="http://schemas.microsoft.com/office/drawing/2014/main" val="1207934954"/>
                    </a:ext>
                  </a:extLst>
                </a:gridCol>
                <a:gridCol w="2518355">
                  <a:extLst>
                    <a:ext uri="{9D8B030D-6E8A-4147-A177-3AD203B41FA5}">
                      <a16:colId xmlns:a16="http://schemas.microsoft.com/office/drawing/2014/main" val="288456635"/>
                    </a:ext>
                  </a:extLst>
                </a:gridCol>
              </a:tblGrid>
              <a:tr h="260035">
                <a:tc>
                  <a:txBody>
                    <a:bodyPr/>
                    <a:lstStyle/>
                    <a:p>
                      <a:r>
                        <a:rPr lang="en-US" sz="1400" dirty="0"/>
                        <a:t>Economy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Premium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806461"/>
                  </a:ext>
                </a:extLst>
              </a:tr>
              <a:tr h="5460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Dominate total sales → high volume, consistent demand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Lower volume but higher prices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902123"/>
                  </a:ext>
                </a:extLst>
              </a:tr>
              <a:tr h="390052">
                <a:tc>
                  <a:txBody>
                    <a:bodyPr/>
                    <a:lstStyle/>
                    <a:p>
                      <a:r>
                        <a:rPr lang="en-US" sz="1200" dirty="0"/>
                        <a:t>Low seasonal variation → reliable year-round cash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Strong seasonality → mostly sold in 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742977"/>
                  </a:ext>
                </a:extLst>
              </a:tr>
              <a:tr h="390052">
                <a:tc>
                  <a:txBody>
                    <a:bodyPr/>
                    <a:lstStyle/>
                    <a:p>
                      <a:r>
                        <a:rPr lang="en-US" sz="1200" b="1" dirty="0"/>
                        <a:t>Examples:</a:t>
                      </a:r>
                      <a:r>
                        <a:rPr lang="en-US" sz="1200" dirty="0"/>
                        <a:t> Toyota Corolla, Honda Civic, Hyundai Elantra, Ford Escape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Examples: </a:t>
                      </a:r>
                      <a:r>
                        <a:rPr lang="en-US" sz="1200" dirty="0"/>
                        <a:t>Tesla Roadster, Model X, i8, </a:t>
                      </a:r>
                      <a:r>
                        <a:rPr lang="en-US" sz="1200" dirty="0" err="1"/>
                        <a:t>iX</a:t>
                      </a:r>
                      <a:r>
                        <a:rPr lang="en-US" sz="1200" dirty="0"/>
                        <a:t> → align with launches &amp; holiday promotions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17848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FE9126A-41B6-9FD4-D487-B72C5BB15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05" y="4034204"/>
            <a:ext cx="4349326" cy="26051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0B6705-A5BB-1E57-868A-6A72D7081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450" y="1578406"/>
            <a:ext cx="5009902" cy="267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397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305F-A843-70C5-0E0B-C513FBB60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859"/>
            <a:ext cx="10515600" cy="565178"/>
          </a:xfrm>
        </p:spPr>
        <p:txBody>
          <a:bodyPr>
            <a:normAutofit/>
          </a:bodyPr>
          <a:lstStyle/>
          <a:p>
            <a:r>
              <a:rPr lang="en-US" sz="3200" dirty="0"/>
              <a:t>Inventory Optimization Based on Sales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DD4BC-4719-AFDB-7480-3DB6B2AEF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1039918"/>
            <a:ext cx="3903133" cy="300376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900" b="1" dirty="0"/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00" dirty="0"/>
              <a:t>Economy Sedans &amp; SUVs (Standard segment) sell consistently Q1–Q4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900" dirty="0"/>
              <a:t>Reliable, high-volume demand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900" dirty="0"/>
              <a:t>SUVs average 25–30 units per quarter</a:t>
            </a:r>
          </a:p>
          <a:p>
            <a:pPr marL="0" indent="0">
              <a:buNone/>
            </a:pPr>
            <a:endParaRPr lang="en-US" sz="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900" dirty="0"/>
              <a:t>Premium EVs &amp; Luxury models show strong Q4 concentration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900" dirty="0"/>
              <a:t>Very limited sales earlier in the year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900" dirty="0"/>
              <a:t>Examples: </a:t>
            </a:r>
            <a:r>
              <a:rPr lang="en-US" sz="900" i="1" dirty="0"/>
              <a:t>Tesla Model X, Tesla Roadster, BMW </a:t>
            </a:r>
            <a:r>
              <a:rPr lang="en-US" sz="900" i="1" dirty="0" err="1"/>
              <a:t>iX</a:t>
            </a:r>
            <a:endParaRPr lang="en-US" sz="900" i="1" dirty="0"/>
          </a:p>
          <a:p>
            <a:pPr marL="0" indent="0">
              <a:buNone/>
            </a:pPr>
            <a:endParaRPr lang="en-US" sz="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900" dirty="0"/>
              <a:t>Mid-size SUVs &amp; Pickup Trucks perform best in Q2–Q3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900" dirty="0"/>
              <a:t>Driven by summer travel, outdoor activities</a:t>
            </a:r>
          </a:p>
          <a:p>
            <a:pPr marL="0" indent="0">
              <a:buNone/>
            </a:pPr>
            <a:endParaRPr lang="en-US" sz="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900" dirty="0"/>
              <a:t>Hydrogen vehicles show minimal demand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900" dirty="0"/>
              <a:t>Only 1 unit sold in Q4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CF1F8-C123-6C91-8619-62F6D7C8E92C}"/>
              </a:ext>
            </a:extLst>
          </p:cNvPr>
          <p:cNvSpPr txBox="1"/>
          <p:nvPr/>
        </p:nvSpPr>
        <p:spPr>
          <a:xfrm>
            <a:off x="4673600" y="1056640"/>
            <a:ext cx="3589867" cy="13670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Bef>
                <a:spcPts val="1000"/>
              </a:spcBef>
            </a:pPr>
            <a:r>
              <a:rPr lang="en-US" sz="900" b="1" dirty="0"/>
              <a:t>Inventory Strategy</a:t>
            </a:r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900" dirty="0"/>
              <a:t>Maintain high year-round inventory of economy Sedans &amp; SUVs</a:t>
            </a:r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900" dirty="0"/>
              <a:t>Stock Premium EVs &amp; Luxury models primarily in Q3–Q4</a:t>
            </a:r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900" dirty="0"/>
              <a:t>Increase SUV &amp; Truck inventory in Q2–Q3</a:t>
            </a:r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900" dirty="0"/>
              <a:t>Limit Hydrogen &amp; niche vehicles to minimal stock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193B99-DFAB-D3AC-A2B0-08036A798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707" y="2528762"/>
            <a:ext cx="3244427" cy="16396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854AF8-2CFC-E567-6B10-AE7E282A6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707" y="4321460"/>
            <a:ext cx="3244431" cy="16396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AFAD8B-8E4D-8F91-A359-0C1FCB654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0" y="4226453"/>
            <a:ext cx="4384039" cy="180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23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405A-78FF-4DF2-D560-863F37894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52082"/>
            <a:ext cx="10515600" cy="36269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Pricing Recommendations by Vehicle Segment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65E686-CBA8-C7DD-1113-1CE2A389EE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903762"/>
              </p:ext>
            </p:extLst>
          </p:nvPr>
        </p:nvGraphicFramePr>
        <p:xfrm>
          <a:off x="298027" y="719666"/>
          <a:ext cx="5127413" cy="281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787">
                  <a:extLst>
                    <a:ext uri="{9D8B030D-6E8A-4147-A177-3AD203B41FA5}">
                      <a16:colId xmlns:a16="http://schemas.microsoft.com/office/drawing/2014/main" val="1887795133"/>
                    </a:ext>
                  </a:extLst>
                </a:gridCol>
                <a:gridCol w="1729313">
                  <a:extLst>
                    <a:ext uri="{9D8B030D-6E8A-4147-A177-3AD203B41FA5}">
                      <a16:colId xmlns:a16="http://schemas.microsoft.com/office/drawing/2014/main" val="3280197910"/>
                    </a:ext>
                  </a:extLst>
                </a:gridCol>
                <a:gridCol w="1729313">
                  <a:extLst>
                    <a:ext uri="{9D8B030D-6E8A-4147-A177-3AD203B41FA5}">
                      <a16:colId xmlns:a16="http://schemas.microsoft.com/office/drawing/2014/main" val="3206925034"/>
                    </a:ext>
                  </a:extLst>
                </a:gridCol>
              </a:tblGrid>
              <a:tr h="2824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/>
                        <a:t>Economy Sedans &amp; SUVs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Premium &amp; Luxury Vehicles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EVs &amp; Hybrids (Growth Segment)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303245"/>
                  </a:ext>
                </a:extLst>
              </a:tr>
              <a:tr h="358538">
                <a:tc>
                  <a:txBody>
                    <a:bodyPr/>
                    <a:lstStyle/>
                    <a:p>
                      <a:r>
                        <a:rPr lang="en-US" sz="900" dirty="0"/>
                        <a:t>Maintain </a:t>
                      </a:r>
                      <a:r>
                        <a:rPr lang="en-US" sz="900" b="0" dirty="0"/>
                        <a:t>competitive pricing as it is</a:t>
                      </a:r>
                      <a:r>
                        <a:rPr lang="en-US" sz="900" dirty="0"/>
                        <a:t> price-sensitive, high-volume 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 dynamic pricing, especially in Q4 when demand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Offer selective incentives in Q2–Q3 to encourage trial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7015969"/>
                  </a:ext>
                </a:extLst>
              </a:tr>
              <a:tr h="456321">
                <a:tc>
                  <a:txBody>
                    <a:bodyPr/>
                    <a:lstStyle/>
                    <a:p>
                      <a:r>
                        <a:rPr lang="en-US" sz="900" dirty="0"/>
                        <a:t>Small price changes can significantly impact 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Preserve premium margins during year-end promotions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Avoid heavy discounting in Q4 when demand is naturally higher</a:t>
                      </a:r>
                    </a:p>
                    <a:p>
                      <a:endParaRPr lang="en-US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059331"/>
                  </a:ext>
                </a:extLst>
              </a:tr>
              <a:tr h="456321">
                <a:tc>
                  <a:txBody>
                    <a:bodyPr/>
                    <a:lstStyle/>
                    <a:p>
                      <a:r>
                        <a:rPr lang="en-US" sz="900" dirty="0"/>
                        <a:t>Introduce</a:t>
                      </a:r>
                      <a:r>
                        <a:rPr lang="en-US" sz="900" b="1" dirty="0"/>
                        <a:t> </a:t>
                      </a:r>
                      <a:r>
                        <a:rPr lang="en-US" sz="900" b="0" dirty="0"/>
                        <a:t>discounts in Q2 </a:t>
                      </a:r>
                      <a:r>
                        <a:rPr lang="en-US" sz="900" dirty="0"/>
                        <a:t>to stimulate mid-year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Examples: Tesla Model X, Roadster, BMW </a:t>
                      </a:r>
                      <a:r>
                        <a:rPr lang="en-US" sz="9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iX</a:t>
                      </a:r>
                      <a:br>
                        <a:rPr 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Price Range: $64,900 – $179,900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Position incentives against dominant economy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797860"/>
                  </a:ext>
                </a:extLst>
              </a:tr>
              <a:tr h="456321">
                <a:tc>
                  <a:txBody>
                    <a:bodyPr/>
                    <a:lstStyle/>
                    <a:p>
                      <a:r>
                        <a:rPr lang="en-US" sz="900" b="0" dirty="0"/>
                        <a:t>Examples: Toyota Corolla, Honda Civic.</a:t>
                      </a:r>
                      <a:br>
                        <a:rPr lang="en-US" sz="900" b="0" dirty="0"/>
                      </a:br>
                      <a:r>
                        <a:rPr lang="en-US" sz="900" b="0" dirty="0"/>
                        <a:t>Price Range: $18,500 – $35,000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49282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81B5F70-4066-5B36-8B1A-9740D9EDA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531" y="719666"/>
            <a:ext cx="4183456" cy="2114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979377-0262-0D62-8740-E6FE1D70F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531" y="3107457"/>
            <a:ext cx="4183456" cy="21005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968031-A4B9-D1EF-E272-0E31F2F81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25" y="3629371"/>
            <a:ext cx="4419121" cy="229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29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C9D1-4A65-1382-15A7-C3FD654CD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05"/>
            <a:ext cx="10515600" cy="36639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/>
              <a:t>Marketing Campaign Focus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1135F-4399-11A3-C869-EC37B35B5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41" y="1500332"/>
            <a:ext cx="5991859" cy="186601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200" dirty="0"/>
              <a:t>Key 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Prioritize SUVs (Mid-Size &amp; Full-Size) across Standard and Luxury segments, as they lead sales volume year-round.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Amplify EV &amp; Hybrid marketing in Q4, aligning with year-end incentives and sustainability campaigns.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Target Truck promotions regionally, focusing on the Midwest and South, where pickup demand is strongest.</a:t>
            </a:r>
          </a:p>
          <a:p>
            <a:pPr marL="0" indent="0">
              <a:buNone/>
            </a:pPr>
            <a:endParaRPr lang="en-US" sz="1200" dirty="0"/>
          </a:p>
          <a:p>
            <a:r>
              <a:rPr lang="en-US" sz="1100" b="1" dirty="0"/>
              <a:t>Therefore, Maximizes marketing ROI by aligning campaigns with high-demand categories, seasonal buying behavior, and regional preferences.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1585AA-1769-ED80-5515-BC11AF9E7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38" y="3654082"/>
            <a:ext cx="4448282" cy="24852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27C11C-F454-8FE5-02D5-F12C0F017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371" y="3654082"/>
            <a:ext cx="4448282" cy="248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267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63393-174B-F7AC-C939-183B46708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325"/>
            <a:ext cx="10515600" cy="47476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/>
              <a:t>Seasonal Promotion Strategies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3FDBFB-D20E-D7F3-ED76-9076F302B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593307"/>
              </p:ext>
            </p:extLst>
          </p:nvPr>
        </p:nvGraphicFramePr>
        <p:xfrm>
          <a:off x="1083733" y="1194434"/>
          <a:ext cx="5323839" cy="2070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613">
                  <a:extLst>
                    <a:ext uri="{9D8B030D-6E8A-4147-A177-3AD203B41FA5}">
                      <a16:colId xmlns:a16="http://schemas.microsoft.com/office/drawing/2014/main" val="2093977806"/>
                    </a:ext>
                  </a:extLst>
                </a:gridCol>
                <a:gridCol w="1774613">
                  <a:extLst>
                    <a:ext uri="{9D8B030D-6E8A-4147-A177-3AD203B41FA5}">
                      <a16:colId xmlns:a16="http://schemas.microsoft.com/office/drawing/2014/main" val="1710362100"/>
                    </a:ext>
                  </a:extLst>
                </a:gridCol>
                <a:gridCol w="1774613">
                  <a:extLst>
                    <a:ext uri="{9D8B030D-6E8A-4147-A177-3AD203B41FA5}">
                      <a16:colId xmlns:a16="http://schemas.microsoft.com/office/drawing/2014/main" val="1134547190"/>
                    </a:ext>
                  </a:extLst>
                </a:gridCol>
              </a:tblGrid>
              <a:tr h="3639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Q2- 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95830"/>
                  </a:ext>
                </a:extLst>
              </a:tr>
              <a:tr h="538515">
                <a:tc>
                  <a:txBody>
                    <a:bodyPr/>
                    <a:lstStyle/>
                    <a:p>
                      <a:r>
                        <a:rPr lang="en-US" sz="1000" dirty="0"/>
                        <a:t>Promote </a:t>
                      </a:r>
                      <a:r>
                        <a:rPr lang="en-US" sz="1000" b="1" dirty="0"/>
                        <a:t>Economy Sedans &amp; Compact SUVs</a:t>
                      </a:r>
                      <a:r>
                        <a:rPr lang="en-US" sz="1000" dirty="0"/>
                        <a:t> to attract new-year and budget-conscious buyers.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Emphasize </a:t>
                      </a:r>
                      <a:r>
                        <a:rPr lang="en-US" sz="1000" b="1" dirty="0"/>
                        <a:t>Mid-Size SUVs, Family Vehicles &amp; Trucks</a:t>
                      </a:r>
                      <a:r>
                        <a:rPr lang="en-US" sz="1000" dirty="0"/>
                        <a:t>, aligning with summer travel and outdoor demand.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Launch </a:t>
                      </a:r>
                      <a:r>
                        <a:rPr lang="en-US" sz="1000" b="1" dirty="0"/>
                        <a:t>Premium &amp; EV campaigns</a:t>
                      </a:r>
                      <a:r>
                        <a:rPr lang="en-US" sz="1000" dirty="0"/>
                        <a:t> (Luxury/Performance models), supported by </a:t>
                      </a:r>
                      <a:r>
                        <a:rPr lang="en-US" sz="1000" b="1" dirty="0"/>
                        <a:t>holiday financing and bundled incentives</a:t>
                      </a:r>
                      <a:r>
                        <a:rPr lang="en-US" sz="10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245611"/>
                  </a:ext>
                </a:extLst>
              </a:tr>
              <a:tr h="538515">
                <a:tc>
                  <a:txBody>
                    <a:bodyPr/>
                    <a:lstStyle/>
                    <a:p>
                      <a:r>
                        <a:rPr lang="en-US" sz="1000" b="1" dirty="0"/>
                        <a:t>Standard models sell consistently year-round</a:t>
                      </a:r>
                      <a:r>
                        <a:rPr lang="en-US" sz="1000" dirty="0"/>
                        <a:t>, making Q1 an ideal period to drive early-year volume.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Luxury EVs and premium SUVs peak in Q4</a:t>
                      </a:r>
                      <a:r>
                        <a:rPr lang="en-US" sz="1000" dirty="0"/>
                        <a:t>, driven by incentives and year-end purchasing.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426058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56F55B4B-034B-CBAF-86F5-53C1EC9ED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318" y="3789381"/>
            <a:ext cx="4190895" cy="23414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DA11FC-408F-E0E5-9444-9A694EB17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794275"/>
            <a:ext cx="4876799" cy="22746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51CE44-9A84-D37B-3CBD-FFE106241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796" y="1201111"/>
            <a:ext cx="4107817" cy="234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582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D96D0-7D4B-CE6C-DE04-A432C93CA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762"/>
            <a:ext cx="10515600" cy="41010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Sales Team Resource Allocation by Region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710DE6-2A31-0510-C9F6-828C41300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196663"/>
              </p:ext>
            </p:extLst>
          </p:nvPr>
        </p:nvGraphicFramePr>
        <p:xfrm>
          <a:off x="2147146" y="1031239"/>
          <a:ext cx="8127999" cy="942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2796782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6929454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41414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50" dirty="0"/>
                        <a:t>Northeast &amp; 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1" dirty="0"/>
                        <a:t>Midwest &amp; South:</a:t>
                      </a:r>
                      <a:r>
                        <a:rPr lang="en-US" sz="105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All Regions (Q2–Q3)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234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/>
                        <a:t>Deploy senior sales reps and EV specialists to drive </a:t>
                      </a:r>
                      <a:r>
                        <a:rPr lang="en-US" sz="1050" b="1" dirty="0"/>
                        <a:t>Premium and EV sales</a:t>
                      </a:r>
                      <a:r>
                        <a:rPr lang="en-US" sz="1050" dirty="0"/>
                        <a:t>, where </a:t>
                      </a:r>
                      <a:r>
                        <a:rPr lang="en-US" sz="1050" b="1" dirty="0"/>
                        <a:t>Tesla and BMW</a:t>
                      </a:r>
                      <a:r>
                        <a:rPr lang="en-US" sz="1050" dirty="0"/>
                        <a:t> demand is strongest.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Focus sales teams on </a:t>
                      </a:r>
                      <a:r>
                        <a:rPr lang="en-US" sz="1050" b="1" dirty="0"/>
                        <a:t>Trucks and Standard SUVs</a:t>
                      </a:r>
                      <a:r>
                        <a:rPr lang="en-US" sz="1050" dirty="0"/>
                        <a:t>, aligning with regional preferences and high-volume demand.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Train teams to </a:t>
                      </a:r>
                      <a:r>
                        <a:rPr lang="en-US" sz="1050" b="1" dirty="0"/>
                        <a:t>cross-sell Economy SUVs and Hybrids</a:t>
                      </a:r>
                      <a:r>
                        <a:rPr lang="en-US" sz="1050" dirty="0"/>
                        <a:t> during peak summer buying periods.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70263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68D491C-613B-B58E-1EC7-6AC47AB17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011" y="2125254"/>
            <a:ext cx="3967375" cy="16678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E0F62A-54EE-3ACF-854E-F74325D5D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989" y="2123198"/>
            <a:ext cx="3904076" cy="16098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5C7282-AB55-242C-348C-F032A6ABF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3013" y="4095688"/>
            <a:ext cx="4138507" cy="195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670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3274</TotalTime>
  <Words>1028</Words>
  <Application>Microsoft Office PowerPoint</Application>
  <PresentationFormat>Widescreen</PresentationFormat>
  <Paragraphs>163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Courier New</vt:lpstr>
      <vt:lpstr>Symbol</vt:lpstr>
      <vt:lpstr>Wingdings</vt:lpstr>
      <vt:lpstr>Office Theme</vt:lpstr>
      <vt:lpstr>Automotive Sales Performance &amp; Strategic Recommendations</vt:lpstr>
      <vt:lpstr>Business Question</vt:lpstr>
      <vt:lpstr>Data Overview</vt:lpstr>
      <vt:lpstr>Best Performing Models by Sales Price</vt:lpstr>
      <vt:lpstr>Worst Performing Models by Sales Price</vt:lpstr>
      <vt:lpstr>Seasonal Patterns in Buying Behavior </vt:lpstr>
      <vt:lpstr>Patterns Across Vehicle Categories </vt:lpstr>
      <vt:lpstr>Sales Trends by Fuel Type</vt:lpstr>
      <vt:lpstr>Seasonal Trends by Vehicle Category</vt:lpstr>
      <vt:lpstr>Premium vs Economy Model Performance</vt:lpstr>
      <vt:lpstr>Inventory Optimization Based on Sales Patterns</vt:lpstr>
      <vt:lpstr>Pricing Recommendations by Vehicle Segment</vt:lpstr>
      <vt:lpstr>Marketing Campaign Focus Areas</vt:lpstr>
      <vt:lpstr>Seasonal Promotion Strategies</vt:lpstr>
      <vt:lpstr>Sales Team Resource Allocation by Region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Shanzeh Butt</dc:creator>
  <cp:lastModifiedBy>Shanzeh Butt</cp:lastModifiedBy>
  <cp:revision>3</cp:revision>
  <dcterms:created xsi:type="dcterms:W3CDTF">2025-12-30T21:55:47Z</dcterms:created>
  <dcterms:modified xsi:type="dcterms:W3CDTF">2026-01-02T04:30:45Z</dcterms:modified>
</cp:coreProperties>
</file>